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9144000"/>
  <p:notesSz cx="68580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0" roundtripDataSignature="AMtx7miF/EXZXBrpsZqFBzX2EaTDXPSg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/>
              <a:t>Walking is a basic motor behavior that we partake in everyday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/>
              <a:t>Can be used in person identification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/>
              <a:t>Prior use cases in surveillance, forensics, and criminal investigations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/>
              <a:t>Gait can be segregated into distinct phases</a:t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32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▪"/>
            </a:pPr>
            <a:r>
              <a:rPr lang="en-US" sz="1100"/>
              <a:t>Gait recognition research used silhouette sequences</a:t>
            </a:r>
            <a:endParaRPr sz="1100"/>
          </a:p>
          <a:p>
            <a:pPr indent="-18732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▪"/>
            </a:pPr>
            <a:r>
              <a:rPr lang="en-US" sz="1100"/>
              <a:t>Prior research uses a video with a gait sequence </a:t>
            </a:r>
            <a:endParaRPr sz="1100"/>
          </a:p>
          <a:p>
            <a:pPr indent="-18732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▪"/>
            </a:pPr>
            <a:r>
              <a:rPr lang="en-US" sz="1100"/>
              <a:t>Problem with this: temporal partial occlusion</a:t>
            </a:r>
            <a:endParaRPr sz="1100"/>
          </a:p>
          <a:p>
            <a:pPr indent="-18732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▪"/>
            </a:pPr>
            <a:r>
              <a:rPr lang="en-US" sz="1100"/>
              <a:t>Latency for real-time applications</a:t>
            </a:r>
            <a:endParaRPr sz="1100"/>
          </a:p>
          <a:p>
            <a:pPr indent="-18732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▪"/>
            </a:pPr>
            <a:r>
              <a:rPr lang="en-US" sz="1100"/>
              <a:t>Stride length difference</a:t>
            </a:r>
            <a:endParaRPr sz="1100"/>
          </a:p>
          <a:p>
            <a:pPr indent="-18732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en-US" sz="1100"/>
              <a:t>NO prior research on stride cycle timing</a:t>
            </a:r>
            <a:endParaRPr sz="1100"/>
          </a:p>
          <a:p>
            <a:pPr indent="-18732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en-US" sz="1100"/>
              <a:t>NO gait classification - important for gait disorders to understand how affected a certain part of the stride is (example DropHip)</a:t>
            </a:r>
            <a:endParaRPr sz="1100"/>
          </a:p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▪"/>
            </a:pPr>
            <a:r>
              <a:rPr b="1" lang="en-US" sz="2500"/>
              <a:t>Why are the previous models/methods not adequate?</a:t>
            </a:r>
            <a:endParaRPr b="1" sz="2500"/>
          </a:p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▪"/>
            </a:pPr>
            <a:r>
              <a:rPr b="1" lang="en-US" sz="2500"/>
              <a:t>Which architectures have been applied to this task before (any previous state-of-the-arts model)?</a:t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PONKOJ</a:t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21334d6681_0_15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21334d6681_0_15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1334d6681_0_42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221334d6681_0_42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21334d6681_0_0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221334d6681_0_0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3cabc06db3_0_0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23cabc06db3_0_0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3cc5fd5701_0_16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23cc5fd5701_0_16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3cc5fd5701_0_27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3cc5fd5701_0_27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3cc5fd5701_0_4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3cc5fd5701_0_4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211e6db508_0_18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2211e6db508_0_18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211e6db508_0_35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2211e6db508_0_35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3cb174f312_0_0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23cb174f312_0_0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3cb174f312_0_8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3cb174f312_0_8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3c7d677add_0_0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3c7d677add_0_0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3c7d677add_0_23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3c7d677add_0_23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3c908bf7ab_0_0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23c908bf7ab_0_0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 txBox="1"/>
          <p:nvPr>
            <p:ph idx="1" type="body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:notes"/>
          <p:cNvSpPr/>
          <p:nvPr>
            <p:ph idx="2" type="sldImg"/>
          </p:nvPr>
        </p:nvSpPr>
        <p:spPr>
          <a:xfrm>
            <a:off x="11049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21334d6681_0_52:notes"/>
          <p:cNvSpPr/>
          <p:nvPr>
            <p:ph idx="2" type="sldImg"/>
          </p:nvPr>
        </p:nvSpPr>
        <p:spPr>
          <a:xfrm>
            <a:off x="11049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21334d6681_0_52:notes"/>
          <p:cNvSpPr txBox="1"/>
          <p:nvPr>
            <p:ph idx="1" type="body"/>
          </p:nvPr>
        </p:nvSpPr>
        <p:spPr>
          <a:xfrm>
            <a:off x="685800" y="4416425"/>
            <a:ext cx="54864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221334d6681_0_52:notes"/>
          <p:cNvSpPr txBox="1"/>
          <p:nvPr>
            <p:ph idx="12" type="sldNum"/>
          </p:nvPr>
        </p:nvSpPr>
        <p:spPr>
          <a:xfrm>
            <a:off x="3884613" y="8829675"/>
            <a:ext cx="29718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10.jpg"/><Relationship Id="rId5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noramic From Rood2-TDD" id="19" name="Google Shape;1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038600"/>
            <a:ext cx="91440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 strip copy" id="20" name="Google Shape;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0825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 strip copy" id="21" name="Google Shape;21;p15"/>
          <p:cNvPicPr preferRelativeResize="0"/>
          <p:nvPr/>
        </p:nvPicPr>
        <p:blipFill rotWithShape="1">
          <a:blip r:embed="rId4">
            <a:alphaModFix/>
          </a:blip>
          <a:srcRect b="0" l="-35" r="0" t="20168"/>
          <a:stretch/>
        </p:blipFill>
        <p:spPr>
          <a:xfrm>
            <a:off x="0" y="6556375"/>
            <a:ext cx="9144000" cy="30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vada_Master_stack_slogan_4c large" id="22" name="Google Shape;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3925" y="501650"/>
            <a:ext cx="2209800" cy="16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5"/>
          <p:cNvSpPr txBox="1"/>
          <p:nvPr>
            <p:ph type="ctrTitle"/>
          </p:nvPr>
        </p:nvSpPr>
        <p:spPr>
          <a:xfrm>
            <a:off x="152400" y="2362200"/>
            <a:ext cx="876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subTitle"/>
          </p:nvPr>
        </p:nvSpPr>
        <p:spPr>
          <a:xfrm>
            <a:off x="152400" y="3352800"/>
            <a:ext cx="8991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457200" y="6556375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3124200" y="6556375"/>
            <a:ext cx="2895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6553200" y="6556375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04800" y="1447800"/>
            <a:ext cx="8534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04800" y="1447800"/>
            <a:ext cx="4191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648200" y="1447800"/>
            <a:ext cx="4191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9"/>
          <p:cNvSpPr txBox="1"/>
          <p:nvPr>
            <p:ph idx="2" type="body"/>
          </p:nvPr>
        </p:nvSpPr>
        <p:spPr>
          <a:xfrm>
            <a:off x="630238" y="2505075"/>
            <a:ext cx="3868737" cy="39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9"/>
          <p:cNvSpPr txBox="1"/>
          <p:nvPr>
            <p:ph idx="4" type="body"/>
          </p:nvPr>
        </p:nvSpPr>
        <p:spPr>
          <a:xfrm>
            <a:off x="4629150" y="2505075"/>
            <a:ext cx="3887788" cy="39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" type="body"/>
          </p:nvPr>
        </p:nvSpPr>
        <p:spPr>
          <a:xfrm>
            <a:off x="3887788" y="987425"/>
            <a:ext cx="4629150" cy="548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▪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2"/>
          <p:cNvSpPr txBox="1"/>
          <p:nvPr>
            <p:ph idx="2" type="body"/>
          </p:nvPr>
        </p:nvSpPr>
        <p:spPr>
          <a:xfrm>
            <a:off x="630238" y="2057399"/>
            <a:ext cx="2949575" cy="4293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/>
          <p:nvPr>
            <p:ph idx="2" type="pic"/>
          </p:nvPr>
        </p:nvSpPr>
        <p:spPr>
          <a:xfrm>
            <a:off x="3887788" y="987425"/>
            <a:ext cx="4629150" cy="548957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3"/>
          <p:cNvSpPr txBox="1"/>
          <p:nvPr>
            <p:ph idx="1" type="body"/>
          </p:nvPr>
        </p:nvSpPr>
        <p:spPr>
          <a:xfrm>
            <a:off x="630238" y="2057399"/>
            <a:ext cx="2949575" cy="4293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3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" type="body"/>
          </p:nvPr>
        </p:nvSpPr>
        <p:spPr>
          <a:xfrm rot="5400000">
            <a:off x="2057400" y="-304800"/>
            <a:ext cx="5029200" cy="85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 txBox="1"/>
          <p:nvPr>
            <p:ph type="title"/>
          </p:nvPr>
        </p:nvSpPr>
        <p:spPr>
          <a:xfrm rot="5400000">
            <a:off x="4724400" y="2362200"/>
            <a:ext cx="6096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5"/>
          <p:cNvSpPr txBox="1"/>
          <p:nvPr>
            <p:ph idx="1" type="body"/>
          </p:nvPr>
        </p:nvSpPr>
        <p:spPr>
          <a:xfrm rot="5400000">
            <a:off x="381000" y="304800"/>
            <a:ext cx="60960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ontent" type="fourObj">
  <p:cSld name="FOUR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6"/>
          <p:cNvSpPr txBox="1"/>
          <p:nvPr>
            <p:ph type="title"/>
          </p:nvPr>
        </p:nvSpPr>
        <p:spPr>
          <a:xfrm>
            <a:off x="311150" y="76200"/>
            <a:ext cx="85217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" type="body"/>
          </p:nvPr>
        </p:nvSpPr>
        <p:spPr>
          <a:xfrm>
            <a:off x="315913" y="1066800"/>
            <a:ext cx="41783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6"/>
          <p:cNvSpPr txBox="1"/>
          <p:nvPr>
            <p:ph idx="2" type="body"/>
          </p:nvPr>
        </p:nvSpPr>
        <p:spPr>
          <a:xfrm>
            <a:off x="4646613" y="1066800"/>
            <a:ext cx="4179887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3" type="body"/>
          </p:nvPr>
        </p:nvSpPr>
        <p:spPr>
          <a:xfrm>
            <a:off x="315913" y="3771900"/>
            <a:ext cx="41783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4" type="body"/>
          </p:nvPr>
        </p:nvSpPr>
        <p:spPr>
          <a:xfrm>
            <a:off x="4646613" y="3771900"/>
            <a:ext cx="4179887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/>
          <p:nvPr>
            <p:ph type="title"/>
          </p:nvPr>
        </p:nvSpPr>
        <p:spPr>
          <a:xfrm>
            <a:off x="311150" y="76200"/>
            <a:ext cx="85217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" type="body"/>
          </p:nvPr>
        </p:nvSpPr>
        <p:spPr>
          <a:xfrm>
            <a:off x="315913" y="1066800"/>
            <a:ext cx="8510587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7"/>
          <p:cNvSpPr txBox="1"/>
          <p:nvPr>
            <p:ph idx="2" type="body"/>
          </p:nvPr>
        </p:nvSpPr>
        <p:spPr>
          <a:xfrm>
            <a:off x="315913" y="3771900"/>
            <a:ext cx="8510587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/>
          <p:nvPr>
            <p:ph type="title"/>
          </p:nvPr>
        </p:nvSpPr>
        <p:spPr>
          <a:xfrm>
            <a:off x="311150" y="76200"/>
            <a:ext cx="85217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" type="body"/>
          </p:nvPr>
        </p:nvSpPr>
        <p:spPr>
          <a:xfrm>
            <a:off x="315913" y="1066800"/>
            <a:ext cx="4178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2" type="body"/>
          </p:nvPr>
        </p:nvSpPr>
        <p:spPr>
          <a:xfrm>
            <a:off x="4646613" y="1066800"/>
            <a:ext cx="4179887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8"/>
          <p:cNvSpPr txBox="1"/>
          <p:nvPr>
            <p:ph idx="3" type="body"/>
          </p:nvPr>
        </p:nvSpPr>
        <p:spPr>
          <a:xfrm>
            <a:off x="4646613" y="3771900"/>
            <a:ext cx="4179887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jpg"/><Relationship Id="rId2" Type="http://schemas.openxmlformats.org/officeDocument/2006/relationships/image" Target="../media/image10.jpg"/><Relationship Id="rId3" Type="http://schemas.openxmlformats.org/officeDocument/2006/relationships/image" Target="../media/image2.jp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04800" y="1447800"/>
            <a:ext cx="8534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735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▪"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blue strip copy" id="12" name="Google Shape;12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0825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 strip copy" id="13" name="Google Shape;1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75" y="6480175"/>
            <a:ext cx="9140825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vada_N" id="14" name="Google Shape;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8425"/>
            <a:ext cx="1120775" cy="11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4"/>
          <p:cNvSpPr txBox="1"/>
          <p:nvPr>
            <p:ph idx="10" type="dt"/>
          </p:nvPr>
        </p:nvSpPr>
        <p:spPr>
          <a:xfrm>
            <a:off x="457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1" type="ftr"/>
          </p:nvPr>
        </p:nvSpPr>
        <p:spPr>
          <a:xfrm>
            <a:off x="3124200" y="6553200"/>
            <a:ext cx="2895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7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6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gif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gif"/><Relationship Id="rId4" Type="http://schemas.openxmlformats.org/officeDocument/2006/relationships/image" Target="../media/image17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28.png"/><Relationship Id="rId5" Type="http://schemas.openxmlformats.org/officeDocument/2006/relationships/image" Target="../media/image36.png"/><Relationship Id="rId6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Relationship Id="rId6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png"/><Relationship Id="rId4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152400" y="2362200"/>
            <a:ext cx="876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Gait Phase Classification</a:t>
            </a:r>
            <a:endParaRPr sz="1800"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152400" y="3352800"/>
            <a:ext cx="8991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Brian Székely and Ponkoj Chandra Shill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26" name="Google Shape;126;p2"/>
          <p:cNvSpPr txBox="1"/>
          <p:nvPr>
            <p:ph idx="1" type="body"/>
          </p:nvPr>
        </p:nvSpPr>
        <p:spPr>
          <a:xfrm>
            <a:off x="304800" y="1447800"/>
            <a:ext cx="8534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Problem Statement</a:t>
            </a:r>
            <a:endParaRPr/>
          </a:p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Limitation of Previous Approaches</a:t>
            </a:r>
            <a:endParaRPr/>
          </a:p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Proposed Architecture</a:t>
            </a:r>
            <a:endParaRPr/>
          </a:p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Any new building blocks, layers, loss functions</a:t>
            </a:r>
            <a:endParaRPr/>
          </a:p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All other loss functions or objective functions</a:t>
            </a:r>
            <a:endParaRPr/>
          </a:p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Dataset</a:t>
            </a:r>
            <a:endParaRPr/>
          </a:p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Hyper-parameters</a:t>
            </a:r>
            <a:endParaRPr/>
          </a:p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Qualitative Evaluation</a:t>
            </a:r>
            <a:endParaRPr/>
          </a:p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Quantitative Evaluation</a:t>
            </a:r>
            <a:endParaRPr/>
          </a:p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Summary and Future Improvements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127" name="Google Shape;127;p2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Definition</a:t>
            </a:r>
            <a:endParaRPr/>
          </a:p>
        </p:txBody>
      </p:sp>
      <p:sp>
        <p:nvSpPr>
          <p:cNvPr id="133" name="Google Shape;133;p3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" name="Google Shape;13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365" y="4900425"/>
            <a:ext cx="5104000" cy="145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7912" y="1819850"/>
            <a:ext cx="4040924" cy="30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>
            <a:off x="6429400" y="5523950"/>
            <a:ext cx="171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Bouchrika el al., 2011; Iwama et al., 2013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 of Previous Approaches</a:t>
            </a:r>
            <a:endParaRPr/>
          </a:p>
        </p:txBody>
      </p:sp>
      <p:sp>
        <p:nvSpPr>
          <p:cNvPr id="142" name="Google Shape;142;p4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3">
            <a:alphaModFix/>
          </a:blip>
          <a:srcRect b="10698" l="46917" r="3004" t="18263"/>
          <a:stretch/>
        </p:blipFill>
        <p:spPr>
          <a:xfrm>
            <a:off x="1847988" y="1458200"/>
            <a:ext cx="5448025" cy="20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600" y="3490825"/>
            <a:ext cx="33528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 txBox="1"/>
          <p:nvPr/>
        </p:nvSpPr>
        <p:spPr>
          <a:xfrm>
            <a:off x="6248388" y="5376625"/>
            <a:ext cx="180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Xu et al., 2020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Baseline Models</a:t>
            </a:r>
            <a:endParaRPr/>
          </a:p>
        </p:txBody>
      </p:sp>
      <p:sp>
        <p:nvSpPr>
          <p:cNvPr id="151" name="Google Shape;151;p10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0"/>
          <p:cNvSpPr txBox="1"/>
          <p:nvPr/>
        </p:nvSpPr>
        <p:spPr>
          <a:xfrm>
            <a:off x="7374000" y="5937600"/>
            <a:ext cx="161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Bilal et al., 2022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 txBox="1"/>
          <p:nvPr>
            <p:ph idx="1" type="body"/>
          </p:nvPr>
        </p:nvSpPr>
        <p:spPr>
          <a:xfrm>
            <a:off x="304800" y="3879050"/>
            <a:ext cx="7251900" cy="25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31775" rtl="0" algn="l"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ResNet-152V2</a:t>
            </a:r>
            <a:endParaRPr sz="2200"/>
          </a:p>
          <a:p>
            <a:pPr indent="-311150" lvl="1" marL="742950" rtl="0" algn="l"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100"/>
              <a:t>ResNet-152V2 is a variant of the Residual Network (ResNet) architecture</a:t>
            </a:r>
            <a:r>
              <a:rPr lang="en-US" sz="2100"/>
              <a:t>.</a:t>
            </a:r>
            <a:endParaRPr sz="2100"/>
          </a:p>
          <a:p>
            <a:pPr indent="-304800" lvl="1" marL="742950" rtl="0" algn="l">
              <a:spcBef>
                <a:spcPts val="50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152 layers</a:t>
            </a:r>
            <a:endParaRPr sz="2100"/>
          </a:p>
          <a:p>
            <a:pPr indent="-304800" lvl="1" marL="742950" rtl="0" algn="l">
              <a:spcBef>
                <a:spcPts val="50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bottleneck blocks, which reduce the computational cost by using 1x1 and 3x3 convolutional layers.</a:t>
            </a:r>
            <a:endParaRPr sz="2100"/>
          </a:p>
          <a:p>
            <a:pPr indent="-311150" lvl="1" marL="742950" rtl="0" algn="l"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Pretrained with ImageNet with Tensorflow</a:t>
            </a:r>
            <a:endParaRPr sz="2200"/>
          </a:p>
          <a:p>
            <a:pPr indent="-168275" lvl="0" marL="231775" rtl="0" algn="l">
              <a:spcBef>
                <a:spcPts val="500"/>
              </a:spcBef>
              <a:spcAft>
                <a:spcPts val="0"/>
              </a:spcAft>
              <a:buSzPts val="1500"/>
              <a:buChar char="▪"/>
            </a:pPr>
            <a:r>
              <a:t/>
            </a:r>
            <a:endParaRPr sz="22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200"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200"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200"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200"/>
          </a:p>
        </p:txBody>
      </p:sp>
      <p:pic>
        <p:nvPicPr>
          <p:cNvPr id="154" name="Google Shape;15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5400"/>
            <a:ext cx="8991599" cy="25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21334d6681_0_15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Baseline Models</a:t>
            </a:r>
            <a:endParaRPr/>
          </a:p>
        </p:txBody>
      </p:sp>
      <p:sp>
        <p:nvSpPr>
          <p:cNvPr id="160" name="Google Shape;160;g221334d6681_0_15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g221334d6681_0_15"/>
          <p:cNvSpPr txBox="1"/>
          <p:nvPr>
            <p:ph idx="1" type="body"/>
          </p:nvPr>
        </p:nvSpPr>
        <p:spPr>
          <a:xfrm>
            <a:off x="90500" y="1417175"/>
            <a:ext cx="4260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SzPts val="2500"/>
              <a:buChar char="▪"/>
            </a:pPr>
            <a:r>
              <a:rPr lang="en-US"/>
              <a:t>VGG16</a:t>
            </a:r>
            <a:endParaRPr/>
          </a:p>
          <a:p>
            <a:pPr indent="-3302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/>
              <a:t>series of 13 convolutional layers, followed by pooling layers and 3 fully connected layers. </a:t>
            </a:r>
            <a:endParaRPr/>
          </a:p>
          <a:p>
            <a:pPr indent="-3302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/>
              <a:t>138M parameters. </a:t>
            </a:r>
            <a:endParaRPr/>
          </a:p>
          <a:p>
            <a:pPr indent="-3302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/>
              <a:t>Small Filter 3*3</a:t>
            </a:r>
            <a:endParaRPr/>
          </a:p>
          <a:p>
            <a:pPr indent="-330200" lvl="1" marL="74295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-US"/>
              <a:t>Pretrained with ImageNet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Tensorflow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162" name="Google Shape;162;g221334d6681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212" y="1417175"/>
            <a:ext cx="5368789" cy="403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21334d6681_0_15"/>
          <p:cNvSpPr txBox="1"/>
          <p:nvPr/>
        </p:nvSpPr>
        <p:spPr>
          <a:xfrm>
            <a:off x="6244200" y="5523150"/>
            <a:ext cx="25881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Mogan et al., 2022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Building Blocks/Loss Functions etc.</a:t>
            </a:r>
            <a:endParaRPr/>
          </a:p>
        </p:txBody>
      </p:sp>
      <p:sp>
        <p:nvSpPr>
          <p:cNvPr id="169" name="Google Shape;169;p6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304800" y="1447800"/>
            <a:ext cx="8534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31775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ResNet-152V2</a:t>
            </a:r>
            <a:endParaRPr sz="2200"/>
          </a:p>
          <a:p>
            <a:pPr indent="-311150" lvl="1" marL="7429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Add 256 node layer, LeakyRelu</a:t>
            </a:r>
            <a:endParaRPr sz="2200"/>
          </a:p>
          <a:p>
            <a:pPr indent="-311150" lvl="1" marL="7429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3x3 kernel </a:t>
            </a:r>
            <a:endParaRPr sz="2200"/>
          </a:p>
          <a:p>
            <a:pPr indent="-311150" lvl="1" marL="7429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Batch Normalization</a:t>
            </a:r>
            <a:endParaRPr sz="2200"/>
          </a:p>
          <a:p>
            <a:pPr indent="-311150" lvl="1" marL="7429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2x2 Max Pooling</a:t>
            </a:r>
            <a:endParaRPr sz="2200"/>
          </a:p>
          <a:p>
            <a:pPr indent="-311150" lvl="1" marL="7429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Flatten</a:t>
            </a:r>
            <a:endParaRPr sz="2200"/>
          </a:p>
          <a:p>
            <a:pPr indent="-311150" lvl="1" marL="7429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3 node Dense layer with sigmoid activation</a:t>
            </a:r>
            <a:endParaRPr sz="2200"/>
          </a:p>
          <a:p>
            <a:pPr indent="-311150" lvl="1" marL="7429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Categorical cross entropy loss</a:t>
            </a:r>
            <a:endParaRPr sz="2200"/>
          </a:p>
          <a:p>
            <a:pPr indent="-311150" lvl="1" marL="7429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Adam optimizer</a:t>
            </a:r>
            <a:endParaRPr sz="2200"/>
          </a:p>
          <a:p>
            <a:pPr indent="-311150" lvl="1" marL="7429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weights initialized from ImageNet</a:t>
            </a:r>
            <a:endParaRPr sz="2200"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21334d6681_0_42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Building Blocks/Loss Functions etc.</a:t>
            </a:r>
            <a:endParaRPr/>
          </a:p>
        </p:txBody>
      </p:sp>
      <p:sp>
        <p:nvSpPr>
          <p:cNvPr id="176" name="Google Shape;176;g221334d6681_0_42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g221334d6681_0_42"/>
          <p:cNvSpPr txBox="1"/>
          <p:nvPr>
            <p:ph idx="1" type="body"/>
          </p:nvPr>
        </p:nvSpPr>
        <p:spPr>
          <a:xfrm>
            <a:off x="304800" y="1447800"/>
            <a:ext cx="8534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317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VGG16</a:t>
            </a:r>
            <a:endParaRPr sz="2200"/>
          </a:p>
          <a:p>
            <a:pPr indent="-311150" lvl="1" marL="7429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Flatten</a:t>
            </a:r>
            <a:endParaRPr b="1" sz="2200"/>
          </a:p>
          <a:p>
            <a:pPr indent="-311150" lvl="1" marL="7429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Add 2 dense 256 node layers with LeakyRelu</a:t>
            </a:r>
            <a:endParaRPr sz="2200"/>
          </a:p>
          <a:p>
            <a:pPr indent="-311150" lvl="1" marL="7429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50% dropout - reduce overfitting</a:t>
            </a:r>
            <a:endParaRPr sz="2200"/>
          </a:p>
          <a:p>
            <a:pPr indent="-311150" lvl="1" marL="7429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3 node Dense layer with sigmoid activation</a:t>
            </a:r>
            <a:endParaRPr sz="2200"/>
          </a:p>
          <a:p>
            <a:pPr indent="-311150" lvl="1" marL="7429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Categorical cross entropy loss</a:t>
            </a:r>
            <a:endParaRPr sz="2200"/>
          </a:p>
          <a:p>
            <a:pPr indent="-311150" lvl="1" marL="7429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Adam optimizer</a:t>
            </a:r>
            <a:endParaRPr sz="2200"/>
          </a:p>
          <a:p>
            <a:pPr indent="-311150" lvl="1" marL="7429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200"/>
              <a:buChar char="–"/>
            </a:pPr>
            <a:r>
              <a:rPr lang="en-US" sz="2200"/>
              <a:t>weights initialized from ImageNet</a:t>
            </a:r>
            <a:endParaRPr sz="2200"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Datasets</a:t>
            </a:r>
            <a:endParaRPr/>
          </a:p>
        </p:txBody>
      </p:sp>
      <p:sp>
        <p:nvSpPr>
          <p:cNvPr id="183" name="Google Shape;183;p8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107325" y="1237600"/>
            <a:ext cx="8762100" cy="27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CASIA A and C datasets (Center for Biometrics and Security Research)</a:t>
            </a:r>
            <a:endParaRPr sz="25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10296</a:t>
            </a:r>
            <a:r>
              <a:rPr lang="en-US" sz="2100">
                <a:solidFill>
                  <a:schemeClr val="dk1"/>
                </a:solidFill>
              </a:rPr>
              <a:t> images from A (4879 images) and C (5417 images)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training/validation/test (75/15/10; </a:t>
            </a:r>
            <a:r>
              <a:rPr lang="en-US" sz="2100">
                <a:solidFill>
                  <a:schemeClr val="dk1"/>
                </a:solidFill>
              </a:rPr>
              <a:t>10296 images</a:t>
            </a:r>
            <a:r>
              <a:rPr lang="en-US" sz="2100">
                <a:solidFill>
                  <a:schemeClr val="dk1"/>
                </a:solidFill>
              </a:rPr>
              <a:t>) from 9</a:t>
            </a:r>
            <a:r>
              <a:rPr lang="en-US" sz="2100">
                <a:solidFill>
                  <a:schemeClr val="dk1"/>
                </a:solidFill>
              </a:rPr>
              <a:t>0° view point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Classify 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3 phases: heel strike, toe-off, other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85" name="Google Shape;18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000" y="3858992"/>
            <a:ext cx="3299402" cy="22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600" y="3859000"/>
            <a:ext cx="1235436" cy="22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6300" y="3859000"/>
            <a:ext cx="1235425" cy="22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7471" y="3859000"/>
            <a:ext cx="1424525" cy="2249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2277" y="3859002"/>
            <a:ext cx="1349766" cy="22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6424525" y="6108600"/>
            <a:ext cx="27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Xu et al., 2020; Yao et al, 2021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Hyper-parameters</a:t>
            </a:r>
            <a:endParaRPr/>
          </a:p>
        </p:txBody>
      </p:sp>
      <p:sp>
        <p:nvSpPr>
          <p:cNvPr id="196" name="Google Shape;196;p9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9"/>
          <p:cNvSpPr txBox="1"/>
          <p:nvPr>
            <p:ph idx="1" type="body"/>
          </p:nvPr>
        </p:nvSpPr>
        <p:spPr>
          <a:xfrm>
            <a:off x="304800" y="1447800"/>
            <a:ext cx="8534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4475" lvl="0" marL="2317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▪"/>
            </a:pPr>
            <a:r>
              <a:rPr lang="en-US" sz="2400"/>
              <a:t>ResNet-152V2 and VGG16</a:t>
            </a:r>
            <a:endParaRPr sz="2400"/>
          </a:p>
          <a:p>
            <a:pPr indent="-2984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600"/>
              <a:t>Early Stopping (patience=15)</a:t>
            </a:r>
            <a:endParaRPr sz="2600"/>
          </a:p>
          <a:p>
            <a:pPr indent="-2984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600"/>
              <a:t>100 epochs</a:t>
            </a:r>
            <a:endParaRPr sz="2600"/>
          </a:p>
          <a:p>
            <a:pPr indent="-2984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600"/>
              <a:t>learning rate=0.001</a:t>
            </a:r>
            <a:endParaRPr sz="2600"/>
          </a:p>
          <a:p>
            <a:pPr indent="-2984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600"/>
              <a:t>batch size=64</a:t>
            </a:r>
            <a:endParaRPr sz="2600"/>
          </a:p>
          <a:p>
            <a:pPr indent="-2984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600"/>
              <a:t>optimizer=Adam</a:t>
            </a:r>
            <a:endParaRPr sz="2600"/>
          </a:p>
          <a:p>
            <a:pPr indent="-2984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 sz="2600"/>
              <a:t>loss=category loss entropy</a:t>
            </a:r>
            <a:endParaRPr sz="2600"/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700"/>
          </a:p>
          <a:p>
            <a:pPr indent="-73025" lvl="0" marL="2317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700"/>
          </a:p>
          <a:p>
            <a:pPr indent="-73025" lvl="0" marL="2317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700"/>
          </a:p>
          <a:p>
            <a:pPr indent="-73025" lvl="0" marL="2317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21334d6681_0_0"/>
          <p:cNvSpPr txBox="1"/>
          <p:nvPr>
            <p:ph type="title"/>
          </p:nvPr>
        </p:nvSpPr>
        <p:spPr>
          <a:xfrm>
            <a:off x="1437750" y="166675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Evaluation</a:t>
            </a:r>
            <a:endParaRPr/>
          </a:p>
        </p:txBody>
      </p:sp>
      <p:sp>
        <p:nvSpPr>
          <p:cNvPr id="203" name="Google Shape;203;g221334d6681_0_0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g221334d6681_0_0"/>
          <p:cNvSpPr txBox="1"/>
          <p:nvPr>
            <p:ph idx="1" type="body"/>
          </p:nvPr>
        </p:nvSpPr>
        <p:spPr>
          <a:xfrm>
            <a:off x="2667000" y="1201125"/>
            <a:ext cx="4932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B</a:t>
            </a:r>
            <a:r>
              <a:rPr lang="en-US"/>
              <a:t>aseline ResNet - dataset c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05" name="Google Shape;205;g221334d668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763" y="1751400"/>
            <a:ext cx="4590074" cy="459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3cabc06db3_0_0"/>
          <p:cNvSpPr txBox="1"/>
          <p:nvPr>
            <p:ph type="title"/>
          </p:nvPr>
        </p:nvSpPr>
        <p:spPr>
          <a:xfrm>
            <a:off x="1463100" y="166675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Evaluation</a:t>
            </a:r>
            <a:endParaRPr/>
          </a:p>
        </p:txBody>
      </p:sp>
      <p:sp>
        <p:nvSpPr>
          <p:cNvPr id="211" name="Google Shape;211;g23cabc06db3_0_0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g23cabc06db3_0_0"/>
          <p:cNvSpPr txBox="1"/>
          <p:nvPr>
            <p:ph idx="1" type="body"/>
          </p:nvPr>
        </p:nvSpPr>
        <p:spPr>
          <a:xfrm>
            <a:off x="1231200" y="777675"/>
            <a:ext cx="7855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213" name="Google Shape;213;g23cabc06db3_0_0"/>
          <p:cNvSpPr txBox="1"/>
          <p:nvPr>
            <p:ph idx="1" type="body"/>
          </p:nvPr>
        </p:nvSpPr>
        <p:spPr>
          <a:xfrm>
            <a:off x="76200" y="1201125"/>
            <a:ext cx="4932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Baseline VGG - combined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14" name="Google Shape;214;g23cabc06db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2075"/>
            <a:ext cx="3509950" cy="35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23cabc06db3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4550" y="1692076"/>
            <a:ext cx="3509950" cy="35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23cabc06db3_0_0"/>
          <p:cNvSpPr txBox="1"/>
          <p:nvPr>
            <p:ph idx="1" type="body"/>
          </p:nvPr>
        </p:nvSpPr>
        <p:spPr>
          <a:xfrm>
            <a:off x="4495800" y="1201125"/>
            <a:ext cx="4932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B</a:t>
            </a:r>
            <a:r>
              <a:rPr lang="en-US"/>
              <a:t>aseline ResNet - combined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3cc5fd5701_0_16"/>
          <p:cNvSpPr txBox="1"/>
          <p:nvPr>
            <p:ph type="title"/>
          </p:nvPr>
        </p:nvSpPr>
        <p:spPr>
          <a:xfrm>
            <a:off x="1463100" y="166675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Evaluation</a:t>
            </a:r>
            <a:endParaRPr/>
          </a:p>
        </p:txBody>
      </p:sp>
      <p:sp>
        <p:nvSpPr>
          <p:cNvPr id="222" name="Google Shape;222;g23cc5fd5701_0_16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g23cc5fd5701_0_16"/>
          <p:cNvSpPr txBox="1"/>
          <p:nvPr>
            <p:ph idx="1" type="body"/>
          </p:nvPr>
        </p:nvSpPr>
        <p:spPr>
          <a:xfrm>
            <a:off x="1231200" y="777675"/>
            <a:ext cx="7855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Baseline and Updated ResNet Accuracy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24" name="Google Shape;224;g23cc5fd5701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2200" y="1337425"/>
            <a:ext cx="3811800" cy="28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23cc5fd5701_0_16"/>
          <p:cNvPicPr preferRelativeResize="0"/>
          <p:nvPr/>
        </p:nvPicPr>
        <p:blipFill rotWithShape="1">
          <a:blip r:embed="rId4">
            <a:alphaModFix/>
          </a:blip>
          <a:srcRect b="0" l="0" r="5944" t="0"/>
          <a:stretch/>
        </p:blipFill>
        <p:spPr>
          <a:xfrm>
            <a:off x="413325" y="1337425"/>
            <a:ext cx="3585149" cy="28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23cc5fd5701_0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326" y="4196300"/>
            <a:ext cx="3585149" cy="235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3cc5fd5701_0_16"/>
          <p:cNvSpPr txBox="1"/>
          <p:nvPr>
            <p:ph idx="1" type="body"/>
          </p:nvPr>
        </p:nvSpPr>
        <p:spPr>
          <a:xfrm>
            <a:off x="3814750" y="2410450"/>
            <a:ext cx="166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dataset a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228" name="Google Shape;228;g23cc5fd5701_0_16"/>
          <p:cNvSpPr txBox="1"/>
          <p:nvPr>
            <p:ph idx="1" type="body"/>
          </p:nvPr>
        </p:nvSpPr>
        <p:spPr>
          <a:xfrm>
            <a:off x="3998475" y="4993750"/>
            <a:ext cx="166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dataset c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29" name="Google Shape;229;g23cc5fd5701_0_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7075" y="4348700"/>
            <a:ext cx="3187426" cy="205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3cc5fd5701_0_27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Evaluation</a:t>
            </a:r>
            <a:endParaRPr/>
          </a:p>
        </p:txBody>
      </p:sp>
      <p:sp>
        <p:nvSpPr>
          <p:cNvPr id="235" name="Google Shape;235;g23cc5fd5701_0_27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g23cc5fd5701_0_27"/>
          <p:cNvSpPr txBox="1"/>
          <p:nvPr>
            <p:ph idx="1" type="body"/>
          </p:nvPr>
        </p:nvSpPr>
        <p:spPr>
          <a:xfrm>
            <a:off x="1227700" y="1084825"/>
            <a:ext cx="7916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Baseline and Updated ResNet Loss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37" name="Google Shape;237;g23cc5fd5701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0975" y="1669200"/>
            <a:ext cx="3508598" cy="263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23cc5fd5701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69200"/>
            <a:ext cx="3508598" cy="263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3cc5fd5701_0_27"/>
          <p:cNvSpPr txBox="1"/>
          <p:nvPr>
            <p:ph idx="1" type="body"/>
          </p:nvPr>
        </p:nvSpPr>
        <p:spPr>
          <a:xfrm>
            <a:off x="3685488" y="2502300"/>
            <a:ext cx="166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dataset a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40" name="Google Shape;240;g23cc5fd5701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00" y="4300650"/>
            <a:ext cx="3429000" cy="225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23cc5fd5701_0_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0975" y="4304775"/>
            <a:ext cx="3613027" cy="224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23cc5fd5701_0_27"/>
          <p:cNvSpPr txBox="1"/>
          <p:nvPr>
            <p:ph idx="1" type="body"/>
          </p:nvPr>
        </p:nvSpPr>
        <p:spPr>
          <a:xfrm>
            <a:off x="3688225" y="5045925"/>
            <a:ext cx="166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dataset c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Evaluation</a:t>
            </a:r>
            <a:endParaRPr/>
          </a:p>
        </p:txBody>
      </p:sp>
      <p:sp>
        <p:nvSpPr>
          <p:cNvPr id="248" name="Google Shape;248;p11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9" name="Google Shape;24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50" y="1481850"/>
            <a:ext cx="3110650" cy="262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6150" y="1481850"/>
            <a:ext cx="3110650" cy="26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/>
          <p:nvPr>
            <p:ph idx="1" type="body"/>
          </p:nvPr>
        </p:nvSpPr>
        <p:spPr>
          <a:xfrm>
            <a:off x="1365475" y="1084825"/>
            <a:ext cx="777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Baseline and Updated VGG Accuracy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 txBox="1"/>
          <p:nvPr>
            <p:ph idx="1" type="body"/>
          </p:nvPr>
        </p:nvSpPr>
        <p:spPr>
          <a:xfrm>
            <a:off x="3685488" y="2502300"/>
            <a:ext cx="166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dataset a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 txBox="1"/>
          <p:nvPr>
            <p:ph idx="1" type="body"/>
          </p:nvPr>
        </p:nvSpPr>
        <p:spPr>
          <a:xfrm>
            <a:off x="3685488" y="4864500"/>
            <a:ext cx="166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dataset c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54" name="Google Shape;25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6150" y="4220200"/>
            <a:ext cx="3263050" cy="2333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950" y="4220212"/>
            <a:ext cx="3110650" cy="2332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3cc5fd5701_0_4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Evaluation</a:t>
            </a:r>
            <a:endParaRPr/>
          </a:p>
        </p:txBody>
      </p:sp>
      <p:sp>
        <p:nvSpPr>
          <p:cNvPr id="261" name="Google Shape;261;g23cc5fd5701_0_4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g23cc5fd5701_0_4"/>
          <p:cNvSpPr txBox="1"/>
          <p:nvPr>
            <p:ph idx="1" type="body"/>
          </p:nvPr>
        </p:nvSpPr>
        <p:spPr>
          <a:xfrm>
            <a:off x="1365475" y="1084825"/>
            <a:ext cx="777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Baseline and Updated VGG Loss dataset a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63" name="Google Shape;263;g23cc5fd5701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575" y="1704638"/>
            <a:ext cx="3354850" cy="236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23cc5fd5701_0_4"/>
          <p:cNvPicPr preferRelativeResize="0"/>
          <p:nvPr/>
        </p:nvPicPr>
        <p:blipFill rotWithShape="1">
          <a:blip r:embed="rId4">
            <a:alphaModFix/>
          </a:blip>
          <a:srcRect b="0" l="0" r="5141" t="0"/>
          <a:stretch/>
        </p:blipFill>
        <p:spPr>
          <a:xfrm>
            <a:off x="260900" y="1562450"/>
            <a:ext cx="3354850" cy="265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23cc5fd5701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900" y="4077575"/>
            <a:ext cx="3354850" cy="23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23cc5fd5701_0_4"/>
          <p:cNvSpPr txBox="1"/>
          <p:nvPr/>
        </p:nvSpPr>
        <p:spPr>
          <a:xfrm>
            <a:off x="3474250" y="2604025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▪"/>
            </a:pPr>
            <a:r>
              <a:rPr b="1" lang="en-US" sz="2500">
                <a:solidFill>
                  <a:schemeClr val="dk1"/>
                </a:solidFill>
              </a:rPr>
              <a:t>dataset a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267" name="Google Shape;267;g23cc5fd5701_0_4"/>
          <p:cNvSpPr txBox="1"/>
          <p:nvPr/>
        </p:nvSpPr>
        <p:spPr>
          <a:xfrm>
            <a:off x="3474250" y="4813825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▪"/>
            </a:pPr>
            <a:r>
              <a:rPr b="1" lang="en-US" sz="2500">
                <a:solidFill>
                  <a:schemeClr val="dk1"/>
                </a:solidFill>
              </a:rPr>
              <a:t>dataset c</a:t>
            </a:r>
            <a:endParaRPr b="1" sz="2500">
              <a:solidFill>
                <a:schemeClr val="dk1"/>
              </a:solidFill>
            </a:endParaRPr>
          </a:p>
        </p:txBody>
      </p:sp>
      <p:pic>
        <p:nvPicPr>
          <p:cNvPr id="268" name="Google Shape;268;g23cc5fd5701_0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4000" y="4226750"/>
            <a:ext cx="3000000" cy="217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211e6db508_0_18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Evaluation</a:t>
            </a:r>
            <a:endParaRPr/>
          </a:p>
        </p:txBody>
      </p:sp>
      <p:sp>
        <p:nvSpPr>
          <p:cNvPr id="274" name="Google Shape;274;g2211e6db508_0_18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g2211e6db508_0_18"/>
          <p:cNvSpPr txBox="1"/>
          <p:nvPr>
            <p:ph idx="1" type="body"/>
          </p:nvPr>
        </p:nvSpPr>
        <p:spPr>
          <a:xfrm>
            <a:off x="1365475" y="1084825"/>
            <a:ext cx="777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ResNet and </a:t>
            </a:r>
            <a:r>
              <a:rPr lang="en-US"/>
              <a:t>VGG Loss combined datasets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76" name="Google Shape;276;g2211e6db508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5600" y="1558025"/>
            <a:ext cx="3482477" cy="26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2211e6db508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850" y="1558025"/>
            <a:ext cx="3290573" cy="2467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2211e6db508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5599" y="4096025"/>
            <a:ext cx="3177802" cy="238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2211e6db508_0_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7850" y="4096025"/>
            <a:ext cx="3290568" cy="246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211e6db508_0_35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Evaluation</a:t>
            </a:r>
            <a:endParaRPr/>
          </a:p>
        </p:txBody>
      </p:sp>
      <p:sp>
        <p:nvSpPr>
          <p:cNvPr id="285" name="Google Shape;285;g2211e6db508_0_35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g2211e6db508_0_35"/>
          <p:cNvSpPr txBox="1"/>
          <p:nvPr>
            <p:ph idx="1" type="body"/>
          </p:nvPr>
        </p:nvSpPr>
        <p:spPr>
          <a:xfrm>
            <a:off x="1365475" y="1084825"/>
            <a:ext cx="777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ResNet and VGG Accuracies combined datasets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87" name="Google Shape;287;g2211e6db508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5475" y="3961050"/>
            <a:ext cx="3456202" cy="259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2211e6db508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6350" y="3961049"/>
            <a:ext cx="3456192" cy="259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2211e6db508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5475" y="1538975"/>
            <a:ext cx="3456202" cy="242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2211e6db508_0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7200" y="1691381"/>
            <a:ext cx="3026227" cy="2269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3cb174f312_0_0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Accuracy Outcomes Dataset a</a:t>
            </a:r>
            <a:endParaRPr/>
          </a:p>
        </p:txBody>
      </p:sp>
      <p:sp>
        <p:nvSpPr>
          <p:cNvPr id="296" name="Google Shape;296;g23cb174f312_0_0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g23cb174f312_0_0"/>
          <p:cNvSpPr txBox="1"/>
          <p:nvPr>
            <p:ph idx="1" type="body"/>
          </p:nvPr>
        </p:nvSpPr>
        <p:spPr>
          <a:xfrm>
            <a:off x="0" y="1447800"/>
            <a:ext cx="2648100" cy="15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325" lvl="0" marL="231775" rtl="0" algn="l"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4879 samples</a:t>
            </a:r>
            <a:endParaRPr/>
          </a:p>
          <a:p>
            <a:pPr indent="-285750" lvl="1" marL="742950" rtl="0" algn="l">
              <a:spcBef>
                <a:spcPts val="50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440 heel strike</a:t>
            </a:r>
            <a:endParaRPr/>
          </a:p>
          <a:p>
            <a:pPr indent="-285750" lvl="1" marL="742950" rtl="0" algn="l">
              <a:spcBef>
                <a:spcPts val="50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608 toe off</a:t>
            </a:r>
            <a:endParaRPr/>
          </a:p>
          <a:p>
            <a:pPr indent="-285750" lvl="1" marL="742950" rtl="0" algn="l">
              <a:spcBef>
                <a:spcPts val="50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3831 other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298" name="Google Shape;298;g23cb174f31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900" y="990600"/>
            <a:ext cx="6416102" cy="481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23cb174f312_0_0"/>
          <p:cNvSpPr txBox="1"/>
          <p:nvPr/>
        </p:nvSpPr>
        <p:spPr>
          <a:xfrm>
            <a:off x="100200" y="36634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PONKOJ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3cb174f312_0_8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Accuracy Outcomes Dataset c</a:t>
            </a:r>
            <a:endParaRPr/>
          </a:p>
        </p:txBody>
      </p:sp>
      <p:sp>
        <p:nvSpPr>
          <p:cNvPr id="305" name="Google Shape;305;g23cb174f312_0_8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g23cb174f312_0_8"/>
          <p:cNvSpPr txBox="1"/>
          <p:nvPr>
            <p:ph idx="1" type="body"/>
          </p:nvPr>
        </p:nvSpPr>
        <p:spPr>
          <a:xfrm>
            <a:off x="0" y="1447800"/>
            <a:ext cx="2648100" cy="15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325" lvl="0" marL="231775" rtl="0" algn="l"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5417	</a:t>
            </a:r>
            <a:r>
              <a:rPr lang="en-US"/>
              <a:t> samples</a:t>
            </a:r>
            <a:endParaRPr/>
          </a:p>
          <a:p>
            <a:pPr indent="-285750" lvl="1" marL="742950" rtl="0" algn="l">
              <a:spcBef>
                <a:spcPts val="50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440 heel strike</a:t>
            </a:r>
            <a:endParaRPr/>
          </a:p>
          <a:p>
            <a:pPr indent="-285750" lvl="1" marL="742950" rtl="0" algn="l">
              <a:spcBef>
                <a:spcPts val="50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844 toe off</a:t>
            </a:r>
            <a:endParaRPr/>
          </a:p>
          <a:p>
            <a:pPr indent="-285750" lvl="1" marL="742950" rtl="0" algn="l">
              <a:spcBef>
                <a:spcPts val="50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4133 other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307" name="Google Shape;307;g23cb174f312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0500" y="1295400"/>
            <a:ext cx="6191102" cy="464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23cb174f312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4300" y="990600"/>
            <a:ext cx="6417998" cy="481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23cb174f312_0_8"/>
          <p:cNvSpPr txBox="1"/>
          <p:nvPr/>
        </p:nvSpPr>
        <p:spPr>
          <a:xfrm>
            <a:off x="405000" y="41206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PONKOJ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3c7d677add_0_0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Accuracy Equal Samples between Classes</a:t>
            </a:r>
            <a:endParaRPr/>
          </a:p>
        </p:txBody>
      </p:sp>
      <p:sp>
        <p:nvSpPr>
          <p:cNvPr id="315" name="Google Shape;315;g23c7d677add_0_0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g23c7d677add_0_0"/>
          <p:cNvSpPr txBox="1"/>
          <p:nvPr>
            <p:ph idx="1" type="body"/>
          </p:nvPr>
        </p:nvSpPr>
        <p:spPr>
          <a:xfrm>
            <a:off x="0" y="1447800"/>
            <a:ext cx="2346600" cy="15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Dataset a</a:t>
            </a:r>
            <a:endParaRPr/>
          </a:p>
          <a:p>
            <a:pPr indent="-187325" lvl="0" marL="231775" rtl="0" algn="l"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Equal sampling distribution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317" name="Google Shape;317;g23c7d677ad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8000" y="993000"/>
            <a:ext cx="6495998" cy="487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3c7d677add_0_23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Accuracy Equal Samples between Classes</a:t>
            </a:r>
            <a:endParaRPr/>
          </a:p>
        </p:txBody>
      </p:sp>
      <p:sp>
        <p:nvSpPr>
          <p:cNvPr id="323" name="Google Shape;323;g23c7d677add_0_23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g23c7d677add_0_23"/>
          <p:cNvSpPr txBox="1"/>
          <p:nvPr>
            <p:ph idx="1" type="body"/>
          </p:nvPr>
        </p:nvSpPr>
        <p:spPr>
          <a:xfrm>
            <a:off x="0" y="1447800"/>
            <a:ext cx="2346600" cy="15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Dataset c</a:t>
            </a:r>
            <a:endParaRPr/>
          </a:p>
          <a:p>
            <a:pPr indent="-187325" lvl="0" marL="231775" rtl="0" algn="l"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Equal sampling distribution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325" name="Google Shape;325;g23c7d677add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1400" y="994275"/>
            <a:ext cx="6492600" cy="48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3c908bf7ab_0_0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Accuracy Equal Samples between Classes</a:t>
            </a:r>
            <a:endParaRPr/>
          </a:p>
        </p:txBody>
      </p:sp>
      <p:sp>
        <p:nvSpPr>
          <p:cNvPr id="331" name="Google Shape;331;g23c908bf7ab_0_0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g23c908bf7ab_0_0"/>
          <p:cNvSpPr txBox="1"/>
          <p:nvPr>
            <p:ph idx="1" type="body"/>
          </p:nvPr>
        </p:nvSpPr>
        <p:spPr>
          <a:xfrm>
            <a:off x="0" y="1447800"/>
            <a:ext cx="2346600" cy="15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▪"/>
            </a:pPr>
            <a:r>
              <a:rPr lang="en-US"/>
              <a:t>Combined Dataset a and c</a:t>
            </a:r>
            <a:endParaRPr/>
          </a:p>
          <a:p>
            <a:pPr indent="-187325" lvl="0" marL="231775" rtl="0" algn="l"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Equal sampling distribution</a:t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  <a:p>
            <a:pPr indent="-73025" lvl="0" marL="231775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  <p:pic>
        <p:nvPicPr>
          <p:cNvPr id="333" name="Google Shape;333;g23c908bf7a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1400" y="994275"/>
            <a:ext cx="6492600" cy="48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23c908bf7a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1400" y="994275"/>
            <a:ext cx="6492600" cy="48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and Future Improvements</a:t>
            </a:r>
            <a:endParaRPr/>
          </a:p>
        </p:txBody>
      </p:sp>
      <p:sp>
        <p:nvSpPr>
          <p:cNvPr id="340" name="Google Shape;340;p13"/>
          <p:cNvSpPr txBox="1"/>
          <p:nvPr>
            <p:ph idx="12" type="sldNum"/>
          </p:nvPr>
        </p:nvSpPr>
        <p:spPr>
          <a:xfrm>
            <a:off x="6553200" y="6553200"/>
            <a:ext cx="2133600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13"/>
          <p:cNvSpPr txBox="1"/>
          <p:nvPr>
            <p:ph idx="1" type="body"/>
          </p:nvPr>
        </p:nvSpPr>
        <p:spPr>
          <a:xfrm>
            <a:off x="304800" y="1447800"/>
            <a:ext cx="8534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Novel in that we are the first to classify the phase of the </a:t>
            </a:r>
            <a:r>
              <a:rPr lang="en-US"/>
              <a:t>human stride cycle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helpful for stride cycle timing analysis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Do not need to use things like IMUs or motion capture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Data quality is an issue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Better datasets and more data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Only images from 90 degree view point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Standardized labeling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21334d6681_0_52"/>
          <p:cNvSpPr txBox="1"/>
          <p:nvPr>
            <p:ph type="title"/>
          </p:nvPr>
        </p:nvSpPr>
        <p:spPr>
          <a:xfrm>
            <a:off x="1447800" y="381000"/>
            <a:ext cx="7391400" cy="762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Questions/References</a:t>
            </a:r>
            <a:endParaRPr/>
          </a:p>
        </p:txBody>
      </p:sp>
      <p:sp>
        <p:nvSpPr>
          <p:cNvPr id="348" name="Google Shape;348;g221334d6681_0_52"/>
          <p:cNvSpPr txBox="1"/>
          <p:nvPr>
            <p:ph idx="1" type="body"/>
          </p:nvPr>
        </p:nvSpPr>
        <p:spPr>
          <a:xfrm>
            <a:off x="1278600" y="5495575"/>
            <a:ext cx="15045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other</a:t>
            </a:r>
            <a:endParaRPr/>
          </a:p>
        </p:txBody>
      </p:sp>
      <p:sp>
        <p:nvSpPr>
          <p:cNvPr id="349" name="Google Shape;349;g221334d6681_0_52"/>
          <p:cNvSpPr txBox="1"/>
          <p:nvPr>
            <p:ph idx="12" type="sldNum"/>
          </p:nvPr>
        </p:nvSpPr>
        <p:spPr>
          <a:xfrm>
            <a:off x="6553200" y="6553200"/>
            <a:ext cx="2133600" cy="26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0" name="Google Shape;350;g221334d6681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00" y="1209325"/>
            <a:ext cx="30099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221334d6681_0_52"/>
          <p:cNvSpPr txBox="1"/>
          <p:nvPr/>
        </p:nvSpPr>
        <p:spPr>
          <a:xfrm>
            <a:off x="3535800" y="1057550"/>
            <a:ext cx="51510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279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/>
              <a:t>Bilal, Muhammad, Muazzam Maqsood, Sadaf Yasmin, Najam Ul Hasan, and Seungmin Rho. 2022. “A Transfer Learning-Based Efficient Spatiotemporal Human Action Recognition Framework for Long and Overlapping Action Classes.” </a:t>
            </a:r>
            <a:r>
              <a:rPr i="1" lang="en-US"/>
              <a:t>The Journal of Supercomputing</a:t>
            </a:r>
            <a:r>
              <a:rPr lang="en-US"/>
              <a:t> 78 (2): 2873–2908.</a:t>
            </a:r>
            <a:endParaRPr>
              <a:solidFill>
                <a:schemeClr val="dk1"/>
              </a:solidFill>
            </a:endParaRPr>
          </a:p>
          <a:p>
            <a:pPr indent="-279400" lvl="0" marL="279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Iwashita, Yumi, Koji Uchino, and Ryo Kurazume. 2013. “Gait-Based Person Identification Robust to Changes in Appearance.” </a:t>
            </a:r>
            <a:r>
              <a:rPr i="1" lang="en-US">
                <a:solidFill>
                  <a:schemeClr val="dk1"/>
                </a:solidFill>
              </a:rPr>
              <a:t>Sensors </a:t>
            </a:r>
            <a:r>
              <a:rPr lang="en-US">
                <a:solidFill>
                  <a:schemeClr val="dk1"/>
                </a:solidFill>
              </a:rPr>
              <a:t> 13 (6): 7884–7901.</a:t>
            </a:r>
            <a:endParaRPr>
              <a:solidFill>
                <a:schemeClr val="dk1"/>
              </a:solidFill>
            </a:endParaRPr>
          </a:p>
          <a:p>
            <a:pPr indent="-279400" lvl="0" marL="279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Mogan, Jashila Nair, Chin Poo Lee, Kian Ming Lim, and Kalaiarasi Sonai Muthu. 2022. “VGG16-MLP: Gait Recognition with Fine-Tuned VGG-16 and Multilayer Perceptron.” </a:t>
            </a:r>
            <a:r>
              <a:rPr i="1" lang="en-US">
                <a:solidFill>
                  <a:schemeClr val="dk1"/>
                </a:solidFill>
              </a:rPr>
              <a:t>NATO Advanced Science Institutes Series E: Applied Sciences</a:t>
            </a:r>
            <a:r>
              <a:rPr lang="en-US">
                <a:solidFill>
                  <a:schemeClr val="dk1"/>
                </a:solidFill>
              </a:rPr>
              <a:t> 12 (15): 7639.</a:t>
            </a:r>
            <a:endParaRPr>
              <a:solidFill>
                <a:schemeClr val="dk1"/>
              </a:solidFill>
            </a:endParaRPr>
          </a:p>
          <a:p>
            <a:pPr indent="-279400" lvl="0" marL="279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Xu, Chi, Yasushi Makihara, Xiang Li, Yasushi Yagi, and Jianfeng Lu. 2020. “Gait Recognition from a Single Image Using a Phase-Aware Gait Cycle Reconstruction Network.” In </a:t>
            </a:r>
            <a:r>
              <a:rPr i="1" lang="en-US">
                <a:solidFill>
                  <a:schemeClr val="dk1"/>
                </a:solidFill>
              </a:rPr>
              <a:t>Computer Vision – ECCV 2020</a:t>
            </a:r>
            <a:r>
              <a:rPr lang="en-US">
                <a:solidFill>
                  <a:schemeClr val="dk1"/>
                </a:solidFill>
              </a:rPr>
              <a:t>, 386–403. Springer International Publishing.</a:t>
            </a:r>
            <a:endParaRPr>
              <a:solidFill>
                <a:schemeClr val="dk1"/>
              </a:solidFill>
            </a:endParaRPr>
          </a:p>
          <a:p>
            <a:pPr indent="-279400" lvl="0" marL="279400" rtl="0" algn="l">
              <a:spcBef>
                <a:spcPts val="0"/>
              </a:spcBef>
              <a:spcAft>
                <a:spcPts val="1100"/>
              </a:spcAft>
              <a:buNone/>
            </a:pPr>
            <a:r>
              <a:rPr lang="en-US">
                <a:solidFill>
                  <a:schemeClr val="dk1"/>
                </a:solidFill>
              </a:rPr>
              <a:t>Yao, Lingxiang, Worapan Kusakunniran, Qiang Wu, and Jian Zhang. 2021. “Gait Recognition Using a Few Gait Frames.” </a:t>
            </a:r>
            <a:r>
              <a:rPr i="1" lang="en-US">
                <a:solidFill>
                  <a:schemeClr val="dk1"/>
                </a:solidFill>
              </a:rPr>
              <a:t>PeerJ. Computer Science</a:t>
            </a:r>
            <a:r>
              <a:rPr lang="en-US">
                <a:solidFill>
                  <a:schemeClr val="dk1"/>
                </a:solidFill>
              </a:rPr>
              <a:t> 7 (March): e382.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UNR-landscape">
  <a:themeElements>
    <a:clrScheme name="2_UNR-landscap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2019-01-03T19:48:27Z</dcterms:created>
  <dc:creator>Alireza Tavakkoli</dc:creator>
</cp:coreProperties>
</file>